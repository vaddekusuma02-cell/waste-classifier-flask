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" charset="1" panose="020B0604020202020204"/>
      <p:regular r:id="rId17"/>
    </p:embeddedFont>
    <p:embeddedFont>
      <p:font typeface="Liberation Sans Bold" charset="1" panose="020B0704020202020204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  <p:embeddedFont>
      <p:font typeface="Arial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074" cy="516174"/>
            </a:xfrm>
            <a:custGeom>
              <a:avLst/>
              <a:gdLst/>
              <a:ahLst/>
              <a:cxnLst/>
              <a:rect r="r" b="b" t="t" l="l"/>
              <a:pathLst>
                <a:path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65992" y="5210175"/>
            <a:ext cx="10423353" cy="120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6"/>
              </a:lnSpc>
            </a:pPr>
            <a:r>
              <a:rPr lang="en-US" sz="4596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Using A</a:t>
            </a:r>
            <a:r>
              <a:rPr lang="en-US" sz="4596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rtificial Intelligence for Smart and Sustainable Waste Management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4480" y="2902514"/>
            <a:ext cx="15346378" cy="200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</a:pPr>
            <a:r>
              <a:rPr lang="en-US" b="true" sz="7034" spc="-267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AI-BAS</a:t>
            </a:r>
            <a:r>
              <a:rPr lang="en-US" b="true" sz="7034" spc="-267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ED WASTE SEGREGATION AND DISPOSAL GUIDE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95049" y="8368524"/>
            <a:ext cx="6356449" cy="1702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n-US" b="true" sz="1972">
                <a:solidFill>
                  <a:srgbClr val="19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 </a:t>
            </a:r>
          </a:p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n-US" b="true" sz="1972">
                <a:solidFill>
                  <a:srgbClr val="19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Kusuma Vadde</a:t>
            </a:r>
          </a:p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n-US" b="true" sz="1972">
                <a:solidFill>
                  <a:srgbClr val="19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B.Tech-Artificial Intelligence and Machine Learning</a:t>
            </a:r>
          </a:p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n-US" b="true" sz="1972">
                <a:solidFill>
                  <a:srgbClr val="19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Mohan Babu University</a:t>
            </a:r>
          </a:p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n-US" b="true" sz="1972">
                <a:solidFill>
                  <a:srgbClr val="193B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SDG 12 – Responsible Consumption and Production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823725" y="4395868"/>
            <a:ext cx="14873464" cy="15397241"/>
            <a:chOff x="0" y="0"/>
            <a:chExt cx="19831285" cy="20529655"/>
          </a:xfrm>
        </p:grpSpPr>
        <p:grpSp>
          <p:nvGrpSpPr>
            <p:cNvPr name="Group 4" id="4"/>
            <p:cNvGrpSpPr/>
            <p:nvPr/>
          </p:nvGrpSpPr>
          <p:grpSpPr>
            <a:xfrm rot="-2489216">
              <a:off x="7778563" y="6647513"/>
              <a:ext cx="10267126" cy="9279420"/>
              <a:chOff x="0" y="0"/>
              <a:chExt cx="2028074" cy="18329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28074" cy="1832972"/>
              </a:xfrm>
              <a:custGeom>
                <a:avLst/>
                <a:gdLst/>
                <a:ahLst/>
                <a:cxnLst/>
                <a:rect r="r" b="b" t="t" l="l"/>
                <a:pathLst>
                  <a:path h="1832972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1832972"/>
                    </a:lnTo>
                    <a:lnTo>
                      <a:pt x="0" y="1832972"/>
                    </a:lnTo>
                    <a:close/>
                  </a:path>
                </a:pathLst>
              </a:custGeom>
              <a:solidFill>
                <a:srgbClr val="34609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028074" cy="18710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2489216">
              <a:off x="4782080" y="1101778"/>
              <a:ext cx="10267126" cy="18326099"/>
              <a:chOff x="0" y="0"/>
              <a:chExt cx="2028074" cy="361997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8074" cy="3619970"/>
              </a:xfrm>
              <a:custGeom>
                <a:avLst/>
                <a:gdLst/>
                <a:ahLst/>
                <a:cxnLst/>
                <a:rect r="r" b="b" t="t" l="l"/>
                <a:pathLst>
                  <a:path h="3619970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3619970"/>
                    </a:lnTo>
                    <a:lnTo>
                      <a:pt x="0" y="3619970"/>
                    </a:lnTo>
                    <a:close/>
                  </a:path>
                </a:pathLst>
              </a:custGeom>
              <a:solidFill>
                <a:srgbClr val="5EA6E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028074" cy="36580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2489216">
              <a:off x="5570710" y="7481641"/>
              <a:ext cx="10267126" cy="2630157"/>
              <a:chOff x="0" y="0"/>
              <a:chExt cx="2028074" cy="5195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28074" cy="519537"/>
              </a:xfrm>
              <a:custGeom>
                <a:avLst/>
                <a:gdLst/>
                <a:ahLst/>
                <a:cxnLst/>
                <a:rect r="r" b="b" t="t" l="l"/>
                <a:pathLst>
                  <a:path h="519537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519537"/>
                    </a:lnTo>
                    <a:lnTo>
                      <a:pt x="0" y="519537"/>
                    </a:lnTo>
                    <a:close/>
                  </a:path>
                </a:pathLst>
              </a:custGeom>
              <a:solidFill>
                <a:srgbClr val="3F70B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028074" cy="5576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3816392" y="3517640"/>
            <a:ext cx="10188999" cy="57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161" indent="-373581" lvl="1">
              <a:lnSpc>
                <a:spcPts val="3460"/>
              </a:lnSpc>
              <a:buFont typeface="Arial"/>
              <a:buChar char="•"/>
            </a:pPr>
            <a:r>
              <a:rPr lang="en-US" sz="346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Different types of waste are often mixed together.</a:t>
            </a:r>
          </a:p>
          <a:p>
            <a:pPr algn="l" marL="747161" indent="-373581" lvl="1">
              <a:lnSpc>
                <a:spcPts val="3460"/>
              </a:lnSpc>
              <a:buFont typeface="Arial"/>
              <a:buChar char="•"/>
            </a:pPr>
            <a:r>
              <a:rPr lang="en-US" sz="346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People may not know which bin is appropriate for a particular waste item.</a:t>
            </a:r>
          </a:p>
          <a:p>
            <a:pPr algn="l" marL="747161" indent="-373581" lvl="1">
              <a:lnSpc>
                <a:spcPts val="3460"/>
              </a:lnSpc>
              <a:buFont typeface="Arial"/>
              <a:buChar char="•"/>
            </a:pPr>
            <a:r>
              <a:rPr lang="en-US" sz="346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Improper segregation makes recycling more difficult.</a:t>
            </a:r>
          </a:p>
          <a:p>
            <a:pPr algn="l" marL="747161" indent="-373581" lvl="1">
              <a:lnSpc>
                <a:spcPts val="3460"/>
              </a:lnSpc>
              <a:buFont typeface="Arial"/>
              <a:buChar char="•"/>
            </a:pPr>
            <a:r>
              <a:rPr lang="en-US" sz="346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Hazardous and electronic waste require special handling.</a:t>
            </a:r>
          </a:p>
          <a:p>
            <a:pPr algn="l" marL="747161" indent="-373581" lvl="1">
              <a:lnSpc>
                <a:spcPts val="3460"/>
              </a:lnSpc>
              <a:buFont typeface="Arial"/>
              <a:buChar char="•"/>
            </a:pPr>
            <a:r>
              <a:rPr lang="en-US" sz="346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This can lead to environmental pollution and inefficient waste management. </a:t>
            </a:r>
          </a:p>
          <a:p>
            <a:pPr algn="l" marL="747161" indent="-373581" lvl="1">
              <a:lnSpc>
                <a:spcPts val="3460"/>
              </a:lnSpc>
              <a:buFont typeface="Arial"/>
              <a:buChar char="•"/>
            </a:pPr>
            <a:r>
              <a:rPr lang="en-US" sz="346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“How can AI help people identify and dispose of waste correctly?”</a:t>
            </a:r>
          </a:p>
          <a:p>
            <a:pPr algn="l">
              <a:lnSpc>
                <a:spcPts val="3460"/>
              </a:lnSpc>
            </a:pPr>
          </a:p>
        </p:txBody>
      </p:sp>
      <p:sp>
        <p:nvSpPr>
          <p:cNvPr name="AutoShape 14" id="14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4218058" y="1000125"/>
            <a:ext cx="1335118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3"/>
              </a:lnSpc>
            </a:pPr>
            <a:r>
              <a:rPr lang="en-US" b="true" sz="7661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IMPROPER WASTE SEGREGATION PROBLEM</a:t>
            </a:r>
          </a:p>
        </p:txBody>
      </p:sp>
      <p:grpSp>
        <p:nvGrpSpPr>
          <p:cNvPr name="Group 16" id="16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250742" y="3387762"/>
            <a:ext cx="3318496" cy="2556150"/>
            <a:chOff x="0" y="0"/>
            <a:chExt cx="812800" cy="6260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626078"/>
            </a:xfrm>
            <a:custGeom>
              <a:avLst/>
              <a:gdLst/>
              <a:ahLst/>
              <a:cxnLst/>
              <a:rect r="r" b="b" t="t" l="l"/>
              <a:pathLst>
                <a:path h="62607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26078"/>
                  </a:lnTo>
                  <a:lnTo>
                    <a:pt x="0" y="626078"/>
                  </a:lnTo>
                  <a:close/>
                </a:path>
              </a:pathLst>
            </a:custGeom>
            <a:blipFill>
              <a:blip r:embed="rId3"/>
              <a:stretch>
                <a:fillRect l="0" t="-1456" r="0" b="-145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297827" y="6323031"/>
            <a:ext cx="3318496" cy="2556150"/>
            <a:chOff x="0" y="0"/>
            <a:chExt cx="812800" cy="6260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626078"/>
            </a:xfrm>
            <a:custGeom>
              <a:avLst/>
              <a:gdLst/>
              <a:ahLst/>
              <a:cxnLst/>
              <a:rect r="r" b="b" t="t" l="l"/>
              <a:pathLst>
                <a:path h="62607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26078"/>
                  </a:lnTo>
                  <a:lnTo>
                    <a:pt x="0" y="626078"/>
                  </a:lnTo>
                  <a:close/>
                </a:path>
              </a:pathLst>
            </a:custGeom>
            <a:blipFill>
              <a:blip r:embed="rId4"/>
              <a:stretch>
                <a:fillRect l="-682" t="0" r="-682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4005180" y="1364878"/>
            <a:ext cx="15140926" cy="222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9"/>
              </a:lnSpc>
            </a:pPr>
            <a:r>
              <a:rPr lang="en-US" b="true" sz="6327" spc="44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SDG 12: RESPONSIBLE CONSUMPTION </a:t>
            </a:r>
            <a:r>
              <a:rPr lang="en-US" b="true" sz="6327" spc="44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AND PRODUCTION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42049" y="3870770"/>
            <a:ext cx="11879900" cy="127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890" indent="-348945" lvl="1">
              <a:lnSpc>
                <a:spcPts val="3232"/>
              </a:lnSpc>
              <a:buFont typeface="Arial"/>
              <a:buChar char="•"/>
            </a:pPr>
            <a:r>
              <a:rPr lang="en-US" sz="32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SDG 12</a:t>
            </a:r>
            <a:r>
              <a:rPr lang="en-US" sz="32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 promotes responsible consumption and production by reducing waste, using resources efficiently,</a:t>
            </a:r>
            <a:r>
              <a:rPr lang="en-US" sz="32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 and encouraging sustainable practices.</a:t>
            </a:r>
          </a:p>
        </p:txBody>
      </p:sp>
      <p:grpSp>
        <p:nvGrpSpPr>
          <p:cNvPr name="Group 15" id="15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5811700" y="649047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259626" y="649047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4" y="0"/>
                </a:lnTo>
                <a:lnTo>
                  <a:pt x="931084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903516" y="6492343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189760" y="5547024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742783" y="5509093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79006" y="5548890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4" y="0"/>
                </a:lnTo>
                <a:lnTo>
                  <a:pt x="2536214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952849" y="5538628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161185" y="6611574"/>
            <a:ext cx="253621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Waste Guide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23412" y="6454243"/>
            <a:ext cx="253621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Correct Waste Segregation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07536" y="6376515"/>
            <a:ext cx="253621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Better Waste Management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20324" y="6376515"/>
            <a:ext cx="253621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Sustainable Practices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475103" y="661618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7"/>
                </a:lnTo>
                <a:lnTo>
                  <a:pt x="0" y="649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41912" y="6655605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62970" y="6572393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4" y="0"/>
                </a:lnTo>
                <a:lnTo>
                  <a:pt x="931084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742049" y="5628939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062375" y="1135125"/>
            <a:ext cx="15140926" cy="110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9"/>
              </a:lnSpc>
            </a:pPr>
            <a:r>
              <a:rPr lang="en-US" b="true" sz="6327" spc="44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AI ROLE &amp; PROPOSED SOLUTION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57034" y="2481992"/>
            <a:ext cx="12815393" cy="86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890" indent="-348945" lvl="1">
              <a:lnSpc>
                <a:spcPts val="3232"/>
              </a:lnSpc>
              <a:buFont typeface="Arial"/>
              <a:buChar char="•"/>
            </a:pPr>
            <a:r>
              <a:rPr lang="en-US" sz="3232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An AI-based waste guide that helps users identify a waste item and provides suitable segregation and disposal guidance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1249195" y="5547024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491911" y="5593210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023066" y="5593210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653138" y="6265370"/>
            <a:ext cx="253621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Input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Image or text of waste item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19073" y="6525133"/>
            <a:ext cx="200995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Identifies the Item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06859" y="5735718"/>
            <a:ext cx="1975200" cy="72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Classifies the Waste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94223" y="6624355"/>
            <a:ext cx="2268722" cy="11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1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Organic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1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Recyclable-Dry waste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94079" y="6461537"/>
            <a:ext cx="2505763" cy="78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  <a:spcBef>
                <a:spcPct val="0"/>
              </a:spcBef>
            </a:pPr>
            <a:r>
              <a:rPr lang="en-US" b="true" sz="22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Disposal Guidance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649004" y="3634470"/>
            <a:ext cx="12610296" cy="20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318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Where AI is Used:</a:t>
            </a:r>
          </a:p>
          <a:p>
            <a:pPr algn="l" marL="686721" indent="-343361" lvl="1">
              <a:lnSpc>
                <a:spcPts val="3180"/>
              </a:lnSpc>
              <a:buFont typeface="Arial"/>
              <a:buChar char="•"/>
            </a:pPr>
            <a:r>
              <a:rPr lang="en-US" sz="318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Image/Text Understanding</a:t>
            </a:r>
          </a:p>
          <a:p>
            <a:pPr algn="l" marL="686721" indent="-343361" lvl="1">
              <a:lnSpc>
                <a:spcPts val="3180"/>
              </a:lnSpc>
              <a:buFont typeface="Arial"/>
              <a:buChar char="•"/>
            </a:pPr>
            <a:r>
              <a:rPr lang="en-US" sz="318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Waste Classification</a:t>
            </a:r>
          </a:p>
          <a:p>
            <a:pPr algn="l" marL="686721" indent="-343361" lvl="1">
              <a:lnSpc>
                <a:spcPts val="3180"/>
              </a:lnSpc>
              <a:buFont typeface="Arial"/>
              <a:buChar char="•"/>
            </a:pPr>
            <a:r>
              <a:rPr lang="en-US" sz="3180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Decision Support</a:t>
            </a:r>
          </a:p>
          <a:p>
            <a:pPr algn="l">
              <a:lnSpc>
                <a:spcPts val="31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475103" y="661618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7"/>
                </a:lnTo>
                <a:lnTo>
                  <a:pt x="0" y="649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41912" y="6655605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62970" y="6572393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4" y="0"/>
                </a:lnTo>
                <a:lnTo>
                  <a:pt x="931084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742049" y="5628939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742049" y="1560582"/>
            <a:ext cx="15276326" cy="10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6"/>
              </a:lnSpc>
            </a:pPr>
            <a:r>
              <a:rPr lang="en-US" b="true" sz="6140" spc="4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TARGET USERS &amp; DESIGN THINKING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249195" y="5547024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91911" y="5593210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023066" y="5593210"/>
            <a:ext cx="2536215" cy="2536215"/>
          </a:xfrm>
          <a:custGeom>
            <a:avLst/>
            <a:gdLst/>
            <a:ahLst/>
            <a:cxnLst/>
            <a:rect r="r" b="b" t="t" l="l"/>
            <a:pathLst>
              <a:path h="2536215" w="2536215">
                <a:moveTo>
                  <a:pt x="0" y="0"/>
                </a:moveTo>
                <a:lnTo>
                  <a:pt x="2536215" y="0"/>
                </a:lnTo>
                <a:lnTo>
                  <a:pt x="2536215" y="2536215"/>
                </a:lnTo>
                <a:lnTo>
                  <a:pt x="0" y="25362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742049" y="6541643"/>
            <a:ext cx="253621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Understand User Needs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02679" y="6515608"/>
            <a:ext cx="2009953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esign the Solution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11145" y="6507081"/>
            <a:ext cx="1975200" cy="79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b="true" sz="23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</a:t>
            </a:r>
            <a:r>
              <a:rPr lang="en-US" b="true" sz="23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ild the Prototype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127429" y="6211496"/>
            <a:ext cx="2505763" cy="126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1"/>
              </a:lnSpc>
              <a:spcBef>
                <a:spcPct val="0"/>
              </a:spcBef>
            </a:pPr>
            <a:r>
              <a:rPr lang="en-US" b="true" sz="24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</a:t>
            </a:r>
            <a:r>
              <a:rPr lang="en-US" b="true" sz="24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prove Through Feedback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972982" y="3104595"/>
            <a:ext cx="13503128" cy="244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Target Users: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Students – to identify waste and choose the correct bin.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Households – to get quick guidance for everyday waste.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Office Users – to support proper waste segregation.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Community Members – to improve awareness of responsible disposal.</a:t>
            </a:r>
          </a:p>
          <a:p>
            <a:pPr algn="l">
              <a:lnSpc>
                <a:spcPts val="315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427778" y="4953653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365905" y="512590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462899" y="512590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88780" y="3624001"/>
            <a:ext cx="3038998" cy="3038998"/>
          </a:xfrm>
          <a:custGeom>
            <a:avLst/>
            <a:gdLst/>
            <a:ahLst/>
            <a:cxnLst/>
            <a:rect r="r" b="b" t="t" l="l"/>
            <a:pathLst>
              <a:path h="3038998" w="3038998">
                <a:moveTo>
                  <a:pt x="0" y="0"/>
                </a:moveTo>
                <a:lnTo>
                  <a:pt x="3038998" y="0"/>
                </a:lnTo>
                <a:lnTo>
                  <a:pt x="3038998" y="3038998"/>
                </a:lnTo>
                <a:lnTo>
                  <a:pt x="0" y="303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972982" y="1380431"/>
            <a:ext cx="15276326" cy="10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6"/>
              </a:lnSpc>
            </a:pPr>
            <a:r>
              <a:rPr lang="en-US" b="true" sz="6140" spc="4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HOW THE AI WASTE GUIDE WORKS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283527" y="3624001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1" y="0"/>
                </a:lnTo>
                <a:lnTo>
                  <a:pt x="3003811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640171" y="3999628"/>
            <a:ext cx="25362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Image Input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84023" y="3999628"/>
            <a:ext cx="200995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Analysis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555907" y="3659187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2" y="0"/>
                </a:lnTo>
                <a:lnTo>
                  <a:pt x="3003812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901000" y="3798832"/>
            <a:ext cx="2505763" cy="83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1"/>
              </a:lnSpc>
              <a:spcBef>
                <a:spcPct val="0"/>
              </a:spcBef>
            </a:pPr>
            <a:r>
              <a:rPr lang="en-US" b="true" sz="24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Disposal Guidance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296988" y="3624001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2" y="0"/>
                </a:lnTo>
                <a:lnTo>
                  <a:pt x="3003812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672982" y="3798832"/>
            <a:ext cx="2251825" cy="79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b="true" sz="23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Waste Classification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62553" y="4854621"/>
            <a:ext cx="2891452" cy="87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 uploads a waste-item image.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68267" y="4854621"/>
            <a:ext cx="2891452" cy="132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rovides simple instructions for proper disposal.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11189" y="4906028"/>
            <a:ext cx="2975411" cy="136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3382" indent="-211691" lvl="1">
              <a:lnSpc>
                <a:spcPts val="2745"/>
              </a:lnSpc>
              <a:spcBef>
                <a:spcPct val="0"/>
              </a:spcBef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9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rganic / Wet</a:t>
            </a:r>
          </a:p>
          <a:p>
            <a:pPr algn="just" marL="423382" indent="-211691" lvl="1">
              <a:lnSpc>
                <a:spcPts val="2745"/>
              </a:lnSpc>
              <a:spcBef>
                <a:spcPct val="0"/>
              </a:spcBef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Recyclable / Dry</a:t>
            </a:r>
          </a:p>
          <a:p>
            <a:pPr algn="just" marL="423382" indent="-211691" lvl="1">
              <a:lnSpc>
                <a:spcPts val="2745"/>
              </a:lnSpc>
              <a:spcBef>
                <a:spcPct val="0"/>
              </a:spcBef>
              <a:buFont typeface="Arial"/>
              <a:buChar char="•"/>
            </a:pPr>
            <a:r>
              <a:rPr lang="en-US" sz="19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Hazardous / E-Waste</a:t>
            </a:r>
          </a:p>
          <a:p>
            <a:pPr algn="just">
              <a:lnSpc>
                <a:spcPts val="2745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6354879" y="4913772"/>
            <a:ext cx="2891452" cy="87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</a:t>
            </a: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identifies the item in the image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981917" y="5866287"/>
            <a:ext cx="3950316" cy="2890632"/>
          </a:xfrm>
          <a:custGeom>
            <a:avLst/>
            <a:gdLst/>
            <a:ahLst/>
            <a:cxnLst/>
            <a:rect r="r" b="b" t="t" l="l"/>
            <a:pathLst>
              <a:path h="2890632" w="3950316">
                <a:moveTo>
                  <a:pt x="0" y="0"/>
                </a:moveTo>
                <a:lnTo>
                  <a:pt x="3950316" y="0"/>
                </a:lnTo>
                <a:lnTo>
                  <a:pt x="3950316" y="2890632"/>
                </a:lnTo>
                <a:lnTo>
                  <a:pt x="0" y="2890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717" t="-47021" r="-87274" b="-6436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41482" y="5866287"/>
            <a:ext cx="3690177" cy="2840425"/>
          </a:xfrm>
          <a:custGeom>
            <a:avLst/>
            <a:gdLst/>
            <a:ahLst/>
            <a:cxnLst/>
            <a:rect r="r" b="b" t="t" l="l"/>
            <a:pathLst>
              <a:path h="2840425" w="3690177">
                <a:moveTo>
                  <a:pt x="0" y="0"/>
                </a:moveTo>
                <a:lnTo>
                  <a:pt x="3690178" y="0"/>
                </a:lnTo>
                <a:lnTo>
                  <a:pt x="3690178" y="2840425"/>
                </a:lnTo>
                <a:lnTo>
                  <a:pt x="0" y="2840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271" t="-41374" r="-92215" b="-6579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3540" y="2641348"/>
            <a:ext cx="8249903" cy="4391297"/>
          </a:xfrm>
          <a:custGeom>
            <a:avLst/>
            <a:gdLst/>
            <a:ahLst/>
            <a:cxnLst/>
            <a:rect r="r" b="b" t="t" l="l"/>
            <a:pathLst>
              <a:path h="4391297" w="8249903">
                <a:moveTo>
                  <a:pt x="0" y="0"/>
                </a:moveTo>
                <a:lnTo>
                  <a:pt x="8249903" y="0"/>
                </a:lnTo>
                <a:lnTo>
                  <a:pt x="8249903" y="4391298"/>
                </a:lnTo>
                <a:lnTo>
                  <a:pt x="0" y="4391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67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972982" y="1380431"/>
            <a:ext cx="15276326" cy="215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6"/>
              </a:lnSpc>
            </a:pPr>
          </a:p>
          <a:p>
            <a:pPr algn="l">
              <a:lnSpc>
                <a:spcPts val="859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941482" y="2679448"/>
            <a:ext cx="7510665" cy="2042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Prototype Details: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Tool : Python + VS Code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Input : Image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AI : Image Classification</a:t>
            </a: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 marL="681950" indent="-340975" lvl="1">
              <a:lnSpc>
                <a:spcPts val="3158"/>
              </a:lnSpc>
              <a:buFont typeface="Arial"/>
              <a:buChar char="•"/>
            </a:pPr>
            <a:r>
              <a:rPr lang="en-US" sz="3158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Output : Disposal recommendation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3540" y="733762"/>
            <a:ext cx="15276326" cy="10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6"/>
              </a:lnSpc>
            </a:pPr>
            <a:r>
              <a:rPr lang="en-US" b="true" sz="6140" spc="4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PROTOTYPE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2153434"/>
            <a:ext cx="253621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Code: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62943" y="5324489"/>
            <a:ext cx="253621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40870" y="3976824"/>
            <a:ext cx="3038998" cy="3038998"/>
          </a:xfrm>
          <a:custGeom>
            <a:avLst/>
            <a:gdLst/>
            <a:ahLst/>
            <a:cxnLst/>
            <a:rect r="r" b="b" t="t" l="l"/>
            <a:pathLst>
              <a:path h="3038998" w="3038998">
                <a:moveTo>
                  <a:pt x="0" y="0"/>
                </a:moveTo>
                <a:lnTo>
                  <a:pt x="3038998" y="0"/>
                </a:lnTo>
                <a:lnTo>
                  <a:pt x="3038998" y="3038998"/>
                </a:lnTo>
                <a:lnTo>
                  <a:pt x="0" y="3038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559374" y="2076237"/>
            <a:ext cx="15276326" cy="10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6"/>
              </a:lnSpc>
            </a:pPr>
            <a:r>
              <a:rPr lang="en-US" b="true" sz="6140" spc="4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RESPONSIBLE AI CONSIDERATIONS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908279" y="4039286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1" y="0"/>
                </a:lnTo>
                <a:lnTo>
                  <a:pt x="3003811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00539" y="4176768"/>
            <a:ext cx="25362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Accuracy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44927" y="4209788"/>
            <a:ext cx="200995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Safety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015344" y="4039286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2" y="0"/>
                </a:lnTo>
                <a:lnTo>
                  <a:pt x="3003812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197537" y="4137498"/>
            <a:ext cx="2505763" cy="83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1"/>
              </a:lnSpc>
              <a:spcBef>
                <a:spcPct val="0"/>
              </a:spcBef>
            </a:pPr>
            <a:r>
              <a:rPr lang="en-US" b="true" sz="24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Human Oversight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426394" y="4039286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2" y="0"/>
                </a:lnTo>
                <a:lnTo>
                  <a:pt x="3003812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688999" y="4175226"/>
            <a:ext cx="2251825" cy="43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4"/>
              </a:lnSpc>
              <a:spcBef>
                <a:spcPct val="0"/>
              </a:spcBef>
            </a:pPr>
            <a:r>
              <a:rPr lang="en-US" b="true" sz="25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Privacy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8638" y="5095875"/>
            <a:ext cx="3004340" cy="87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reliable waste classification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73156" y="5095875"/>
            <a:ext cx="2891452" cy="132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Users should verify uncertain results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59339" y="5095791"/>
            <a:ext cx="2601049" cy="132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5"/>
              </a:lnSpc>
              <a:spcBef>
                <a:spcPct val="0"/>
              </a:spcBef>
            </a:pPr>
            <a:r>
              <a:rPr lang="en-US" sz="25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Avoid collecting unnecessary personal 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20639" y="5052176"/>
            <a:ext cx="2891452" cy="132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Follow proper guidance for hazardous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4552556" y="4039286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2" y="0"/>
                </a:lnTo>
                <a:lnTo>
                  <a:pt x="3003812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790681" y="4209788"/>
            <a:ext cx="2505763" cy="40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1"/>
              </a:lnSpc>
              <a:spcBef>
                <a:spcPct val="0"/>
              </a:spcBef>
            </a:pPr>
            <a:r>
              <a:rPr lang="en-US" b="true" sz="24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Accessiblity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97837" y="5095875"/>
            <a:ext cx="2891452" cy="132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Keep guidance simple and easy to understand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344927" y="7976548"/>
            <a:ext cx="12628106" cy="91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436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Key Principle</a:t>
            </a:r>
            <a:r>
              <a:rPr lang="en-US" sz="3436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l">
              <a:lnSpc>
                <a:spcPts val="3436"/>
              </a:lnSpc>
            </a:pPr>
            <a:r>
              <a:rPr lang="en-US" sz="3436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Use AI responsibly, safely, and with human awareness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352443" y="4953653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4" y="0"/>
                </a:lnTo>
                <a:lnTo>
                  <a:pt x="931084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365905" y="512590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462899" y="5125907"/>
            <a:ext cx="931083" cy="649308"/>
          </a:xfrm>
          <a:custGeom>
            <a:avLst/>
            <a:gdLst/>
            <a:ahLst/>
            <a:cxnLst/>
            <a:rect r="r" b="b" t="t" l="l"/>
            <a:pathLst>
              <a:path h="649308" w="931083">
                <a:moveTo>
                  <a:pt x="0" y="0"/>
                </a:moveTo>
                <a:lnTo>
                  <a:pt x="931083" y="0"/>
                </a:lnTo>
                <a:lnTo>
                  <a:pt x="931083" y="649308"/>
                </a:lnTo>
                <a:lnTo>
                  <a:pt x="0" y="64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88780" y="3624001"/>
            <a:ext cx="3038998" cy="3038998"/>
          </a:xfrm>
          <a:custGeom>
            <a:avLst/>
            <a:gdLst/>
            <a:ahLst/>
            <a:cxnLst/>
            <a:rect r="r" b="b" t="t" l="l"/>
            <a:pathLst>
              <a:path h="3038998" w="3038998">
                <a:moveTo>
                  <a:pt x="0" y="0"/>
                </a:moveTo>
                <a:lnTo>
                  <a:pt x="3038998" y="0"/>
                </a:lnTo>
                <a:lnTo>
                  <a:pt x="3038998" y="3038998"/>
                </a:lnTo>
                <a:lnTo>
                  <a:pt x="0" y="303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920316" y="1098209"/>
            <a:ext cx="15276326" cy="10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6"/>
              </a:lnSpc>
            </a:pPr>
            <a:r>
              <a:rPr lang="en-US" b="true" sz="6140" spc="4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EXPECTED IMPACT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283527" y="3624001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1" y="0"/>
                </a:lnTo>
                <a:lnTo>
                  <a:pt x="3003811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640171" y="3798832"/>
            <a:ext cx="253621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Easier Segregation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99713" y="3820557"/>
            <a:ext cx="237144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Quick Identification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555907" y="3659187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2" y="0"/>
                </a:lnTo>
                <a:lnTo>
                  <a:pt x="3003812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805750" y="3802979"/>
            <a:ext cx="2505763" cy="83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1"/>
              </a:lnSpc>
              <a:spcBef>
                <a:spcPct val="0"/>
              </a:spcBef>
            </a:pPr>
            <a:r>
              <a:rPr lang="en-US" b="true" sz="24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Sustainable Habits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296988" y="3624001"/>
            <a:ext cx="3003812" cy="3003812"/>
          </a:xfrm>
          <a:custGeom>
            <a:avLst/>
            <a:gdLst/>
            <a:ahLst/>
            <a:cxnLst/>
            <a:rect r="r" b="b" t="t" l="l"/>
            <a:pathLst>
              <a:path h="3003812" w="3003812">
                <a:moveTo>
                  <a:pt x="0" y="0"/>
                </a:moveTo>
                <a:lnTo>
                  <a:pt x="3003812" y="0"/>
                </a:lnTo>
                <a:lnTo>
                  <a:pt x="3003812" y="3003812"/>
                </a:lnTo>
                <a:lnTo>
                  <a:pt x="0" y="300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672982" y="3798832"/>
            <a:ext cx="2251825" cy="79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b="true" sz="23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Better Disposal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62553" y="4854621"/>
            <a:ext cx="2891452" cy="877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users sort waste correctly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68267" y="4763990"/>
            <a:ext cx="2891452" cy="132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Encourages responsible waste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72982" y="4942374"/>
            <a:ext cx="2326300" cy="8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  <a:spcBef>
                <a:spcPct val="0"/>
              </a:spcBef>
            </a:pPr>
            <a:r>
              <a:rPr lang="en-US" sz="24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Provides simple disposal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54879" y="4916390"/>
            <a:ext cx="2891452" cy="132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  <a:spcBef>
                <a:spcPct val="0"/>
              </a:spcBef>
            </a:pPr>
            <a:r>
              <a:rPr lang="en-US" sz="25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Helps identify unfamiliar waste items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344927" y="7694325"/>
            <a:ext cx="12628106" cy="8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436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Impacts Statement:</a:t>
            </a:r>
          </a:p>
          <a:p>
            <a:pPr algn="l">
              <a:lnSpc>
                <a:spcPts val="3436"/>
              </a:lnSpc>
            </a:pPr>
            <a:r>
              <a:rPr lang="en-US" sz="3436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Makes responsible waste segregatiom simple and accesible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823725" y="4395868"/>
            <a:ext cx="14873464" cy="15397241"/>
            <a:chOff x="0" y="0"/>
            <a:chExt cx="19831285" cy="20529655"/>
          </a:xfrm>
        </p:grpSpPr>
        <p:grpSp>
          <p:nvGrpSpPr>
            <p:cNvPr name="Group 4" id="4"/>
            <p:cNvGrpSpPr/>
            <p:nvPr/>
          </p:nvGrpSpPr>
          <p:grpSpPr>
            <a:xfrm rot="-2489216">
              <a:off x="7778563" y="6647513"/>
              <a:ext cx="10267126" cy="9279420"/>
              <a:chOff x="0" y="0"/>
              <a:chExt cx="2028074" cy="18329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28074" cy="1832972"/>
              </a:xfrm>
              <a:custGeom>
                <a:avLst/>
                <a:gdLst/>
                <a:ahLst/>
                <a:cxnLst/>
                <a:rect r="r" b="b" t="t" l="l"/>
                <a:pathLst>
                  <a:path h="1832972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1832972"/>
                    </a:lnTo>
                    <a:lnTo>
                      <a:pt x="0" y="1832972"/>
                    </a:lnTo>
                    <a:close/>
                  </a:path>
                </a:pathLst>
              </a:custGeom>
              <a:solidFill>
                <a:srgbClr val="34609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028074" cy="18710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2489216">
              <a:off x="4782080" y="1101778"/>
              <a:ext cx="10267126" cy="18326099"/>
              <a:chOff x="0" y="0"/>
              <a:chExt cx="2028074" cy="361997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8074" cy="3619970"/>
              </a:xfrm>
              <a:custGeom>
                <a:avLst/>
                <a:gdLst/>
                <a:ahLst/>
                <a:cxnLst/>
                <a:rect r="r" b="b" t="t" l="l"/>
                <a:pathLst>
                  <a:path h="3619970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3619970"/>
                    </a:lnTo>
                    <a:lnTo>
                      <a:pt x="0" y="3619970"/>
                    </a:lnTo>
                    <a:close/>
                  </a:path>
                </a:pathLst>
              </a:custGeom>
              <a:solidFill>
                <a:srgbClr val="5EA6E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028074" cy="36580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2489216">
              <a:off x="5570710" y="7481641"/>
              <a:ext cx="10267126" cy="2630157"/>
              <a:chOff x="0" y="0"/>
              <a:chExt cx="2028074" cy="5195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28074" cy="519537"/>
              </a:xfrm>
              <a:custGeom>
                <a:avLst/>
                <a:gdLst/>
                <a:ahLst/>
                <a:cxnLst/>
                <a:rect r="r" b="b" t="t" l="l"/>
                <a:pathLst>
                  <a:path h="519537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519537"/>
                    </a:lnTo>
                    <a:lnTo>
                      <a:pt x="0" y="519537"/>
                    </a:lnTo>
                    <a:close/>
                  </a:path>
                </a:pathLst>
              </a:custGeom>
              <a:solidFill>
                <a:srgbClr val="3F70B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028074" cy="5576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4049500" y="3202944"/>
            <a:ext cx="11246462" cy="295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381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What I Learned </a:t>
            </a:r>
          </a:p>
          <a:p>
            <a:pPr algn="l" marL="824705" indent="-412352" lvl="1">
              <a:lnSpc>
                <a:spcPts val="3819"/>
              </a:lnSpc>
              <a:buFont typeface="Arial"/>
              <a:buChar char="•"/>
            </a:pPr>
            <a:r>
              <a:rPr lang="en-US" sz="381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Identified a real-world waste problem</a:t>
            </a:r>
          </a:p>
          <a:p>
            <a:pPr algn="l" marL="824705" indent="-412352" lvl="1">
              <a:lnSpc>
                <a:spcPts val="3819"/>
              </a:lnSpc>
              <a:buFont typeface="Arial"/>
              <a:buChar char="•"/>
            </a:pPr>
            <a:r>
              <a:rPr lang="en-US" sz="381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Connected it with SDG 12</a:t>
            </a:r>
          </a:p>
          <a:p>
            <a:pPr algn="l" marL="824705" indent="-412352" lvl="1">
              <a:lnSpc>
                <a:spcPts val="3819"/>
              </a:lnSpc>
              <a:buFont typeface="Arial"/>
              <a:buChar char="•"/>
            </a:pPr>
            <a:r>
              <a:rPr lang="en-US" sz="381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Explored AI for waste classification</a:t>
            </a:r>
          </a:p>
          <a:p>
            <a:pPr algn="l" marL="824705" indent="-412352" lvl="1">
              <a:lnSpc>
                <a:spcPts val="3819"/>
              </a:lnSpc>
              <a:buFont typeface="Arial"/>
              <a:buChar char="•"/>
            </a:pPr>
            <a:r>
              <a:rPr lang="en-US" sz="381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Developed a simple image-based prototype</a:t>
            </a:r>
          </a:p>
          <a:p>
            <a:pPr algn="l" marL="824705" indent="-412352" lvl="1">
              <a:lnSpc>
                <a:spcPts val="3819"/>
              </a:lnSpc>
              <a:buFont typeface="Arial"/>
              <a:buChar char="•"/>
            </a:pPr>
            <a:r>
              <a:rPr lang="en-US" sz="3819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Learned about responsible AI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627689" y="9277350"/>
            <a:ext cx="10329387" cy="0"/>
          </a:xfrm>
          <a:prstGeom prst="line">
            <a:avLst/>
          </a:prstGeom>
          <a:ln cap="flat" w="38100">
            <a:solidFill>
              <a:srgbClr val="3460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4218058" y="1000125"/>
            <a:ext cx="1335118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3"/>
              </a:lnSpc>
            </a:pPr>
            <a:r>
              <a:rPr lang="en-US" sz="7661" b="true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CONCLUSION &amp; LEARNING</a:t>
            </a:r>
          </a:p>
        </p:txBody>
      </p:sp>
      <p:grpSp>
        <p:nvGrpSpPr>
          <p:cNvPr name="Group 16" id="16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067964" y="7019768"/>
            <a:ext cx="13501274" cy="142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3673" b="true">
                <a:solidFill>
                  <a:srgbClr val="193B6A"/>
                </a:solidFill>
                <a:latin typeface="Arial Bold"/>
                <a:ea typeface="Arial Bold"/>
                <a:cs typeface="Arial Bold"/>
                <a:sym typeface="Arial Bold"/>
              </a:rPr>
              <a:t>Final Message</a:t>
            </a:r>
            <a:r>
              <a:rPr lang="en-US" sz="3673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l">
              <a:lnSpc>
                <a:spcPts val="3673"/>
              </a:lnSpc>
            </a:pPr>
            <a:r>
              <a:rPr lang="en-US" sz="3673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AI can support sustainability when designed with purpose, responsibility and real user needs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074" cy="516174"/>
            </a:xfrm>
            <a:custGeom>
              <a:avLst/>
              <a:gdLst/>
              <a:ahLst/>
              <a:cxnLst/>
              <a:rect r="r" b="b" t="t" l="l"/>
              <a:pathLst>
                <a:path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32672" y="3972757"/>
            <a:ext cx="13022655" cy="206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85"/>
              </a:lnSpc>
            </a:pPr>
            <a:r>
              <a:rPr lang="en-US" b="true" sz="11775" spc="82">
                <a:solidFill>
                  <a:srgbClr val="193B6A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DAHVo_ZMkfU</dc:identifier>
  <dcterms:modified xsi:type="dcterms:W3CDTF">2011-08-01T06:04:30Z</dcterms:modified>
  <cp:revision>1</cp:revision>
  <dc:title>AI-Based Waste Segregation and Disposal Guide</dc:title>
</cp:coreProperties>
</file>